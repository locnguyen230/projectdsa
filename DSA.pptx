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62" r:id="rId5"/>
    <p:sldId id="257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7955"/>
            <a:ext cx="9144000" cy="1692910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Chủ đề</a:t>
            </a:r>
            <a:br>
              <a:rPr lang="en-US" altLang="en-US" b="1" dirty="0"/>
            </a:br>
            <a:r>
              <a:rPr lang="en-US" altLang="en-US" b="1" dirty="0"/>
              <a:t>Quản l</a:t>
            </a:r>
            <a:r>
              <a:rPr lang="" altLang="en-US" b="1" dirty="0"/>
              <a:t>ý</a:t>
            </a:r>
            <a:r>
              <a:rPr lang="en-US" altLang="en-US" b="1" dirty="0"/>
              <a:t> </a:t>
            </a:r>
            <a:r>
              <a:rPr lang="" altLang="en-US" b="1" dirty="0"/>
              <a:t>Đ</a:t>
            </a:r>
            <a:r>
              <a:rPr lang="en-US" altLang="en-US" b="1" dirty="0"/>
              <a:t>iểm Thi của Sinh viên</a:t>
            </a:r>
            <a:endParaRPr lang="en-US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285875" y="2596515"/>
            <a:ext cx="9144000" cy="3041650"/>
          </a:xfrm>
        </p:spPr>
        <p:txBody>
          <a:bodyPr>
            <a:normAutofit fontScale="25000"/>
          </a:bodyPr>
          <a:lstStyle/>
          <a:p>
            <a:r>
              <a:rPr lang="en-US" sz="9600"/>
              <a:t>GVHD: Bùi Văn Thượng</a:t>
            </a:r>
            <a:endParaRPr lang="en-US" sz="9600"/>
          </a:p>
          <a:p>
            <a:endParaRPr lang="en-US" sz="9600"/>
          </a:p>
          <a:p>
            <a:r>
              <a:rPr lang="en-US" sz="9600"/>
              <a:t>SVTH:</a:t>
            </a:r>
            <a:endParaRPr lang="en-US" sz="9600"/>
          </a:p>
          <a:p>
            <a:r>
              <a:rPr lang="en-US" sz="9600"/>
              <a:t>Nguyễn Tấn Lộc</a:t>
            </a:r>
            <a:endParaRPr lang="en-US" sz="9600"/>
          </a:p>
          <a:p>
            <a:r>
              <a:rPr lang="en-US" sz="9600"/>
              <a:t>Nguyễn Nhật Trường</a:t>
            </a:r>
            <a:endParaRPr lang="en-US" sz="9600"/>
          </a:p>
          <a:p>
            <a:r>
              <a:rPr lang="en-US" altLang="en-US" sz="9600"/>
              <a:t>Trần V</a:t>
            </a:r>
            <a:r>
              <a:rPr lang="" altLang="en-US" sz="9600"/>
              <a:t>ũ</a:t>
            </a:r>
            <a:r>
              <a:rPr lang="en-US" altLang="en-US" sz="9600"/>
              <a:t> Tuấn Ngọc</a:t>
            </a:r>
            <a:endParaRPr lang="en-US" altLang="en-US" sz="9600"/>
          </a:p>
          <a:p>
            <a:r>
              <a:rPr lang="" altLang="en-US" sz="9600"/>
              <a:t>Đ</a:t>
            </a:r>
            <a:r>
              <a:rPr lang="en-US" altLang="en-US" sz="9600"/>
              <a:t>oàn Ngọc Thế</a:t>
            </a:r>
            <a:endParaRPr lang="en-US" altLang="en-US" sz="9600"/>
          </a:p>
          <a:p>
            <a:endParaRPr lang="en-US" altLang="en-US"/>
          </a:p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6024880" y="1763395"/>
            <a:ext cx="5373370" cy="4364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32050"/>
            <a:ext cx="10515600" cy="1325563"/>
          </a:xfrm>
        </p:spPr>
        <p:txBody>
          <a:bodyPr>
            <a:normAutofit fontScale="90000"/>
          </a:bodyPr>
          <a:p>
            <a:r>
              <a:rPr lang="en-US" sz="2665"/>
              <a:t>1. Vấn đề cần giải quyết với chủ đề:</a:t>
            </a:r>
            <a:br>
              <a:rPr lang="en-US" sz="2665"/>
            </a:br>
            <a:r>
              <a:rPr lang="en-US" sz="2665"/>
              <a:t>- Đầu vào dữ liệu lớn</a:t>
            </a:r>
            <a:br>
              <a:rPr lang="en-US" sz="2665"/>
            </a:br>
            <a:r>
              <a:rPr lang="en-US" sz="2665"/>
              <a:t>- Cần xử lý nhanh và chính xác</a:t>
            </a:r>
            <a:br>
              <a:rPr lang="en-US" sz="2665"/>
            </a:br>
            <a:r>
              <a:rPr lang="en-US" sz="2665"/>
              <a:t>- Tạo báo cáo &amp; thống kê</a:t>
            </a:r>
            <a:br>
              <a:rPr lang="en-US" sz="2665"/>
            </a:br>
            <a:br>
              <a:rPr lang="en-US" sz="2665"/>
            </a:br>
            <a:r>
              <a:rPr lang="en-US" sz="2665"/>
              <a:t>2. Giải pháp sử dụng cấu trúc cây BST(Binary Search Tree) và bảng băm(Hash Table):</a:t>
            </a:r>
            <a:br>
              <a:rPr lang="en-US" sz="2665"/>
            </a:br>
            <a:r>
              <a:rPr lang="en-US" sz="2665"/>
              <a:t>Cấp 1: </a:t>
            </a:r>
            <a:br>
              <a:rPr lang="en-US" sz="2665"/>
            </a:br>
            <a:r>
              <a:rPr lang="en-US" sz="2665"/>
              <a:t>	- Sử cấu trúc bảng băm lưu các lớp.</a:t>
            </a:r>
            <a:br>
              <a:rPr lang="en-US" sz="2665"/>
            </a:br>
            <a:r>
              <a:rPr lang="en-US" sz="2665"/>
              <a:t>	- Khóa băm sử đụng là: Mã lớp(ClassId).</a:t>
            </a:r>
            <a:br>
              <a:rPr lang="en-US" sz="2665"/>
            </a:br>
            <a:r>
              <a:rPr lang="en-US" sz="2665"/>
              <a:t>	- Chia nhỏ dữ liệu lớn, truy xuất nhanh.</a:t>
            </a:r>
            <a:br>
              <a:rPr lang="en-US" sz="2665"/>
            </a:br>
            <a:r>
              <a:rPr lang="en-US" sz="2665"/>
              <a:t>Cấp 2:</a:t>
            </a:r>
            <a:br>
              <a:rPr lang="en-US" sz="2665"/>
            </a:br>
            <a:r>
              <a:rPr lang="en-US" sz="2665"/>
              <a:t>	- Cây BST cấu trúc nền tảng cho mỗi lớp.</a:t>
            </a:r>
            <a:br>
              <a:rPr lang="en-US" sz="2665"/>
            </a:br>
            <a:r>
              <a:rPr lang="en-US" sz="2665"/>
              <a:t>	- Khóa chính để tổ chức cây BST là: Mã số sinh viên(id).</a:t>
            </a:r>
            <a:br>
              <a:rPr lang="en-US" sz="2665"/>
            </a:br>
            <a:r>
              <a:rPr lang="en-US" sz="2665"/>
              <a:t>	- Dữ liệu luôn được xắp sếp dễ dàng cho việc tìm, thêm, xóa.</a:t>
            </a:r>
            <a:br>
              <a:rPr lang="en-US" sz="2665"/>
            </a:br>
            <a:br>
              <a:rPr lang="en-US" sz="2665"/>
            </a:br>
            <a:r>
              <a:rPr lang="en-US" sz="2665"/>
              <a:t>3. Kết quả của giải pháp trên:</a:t>
            </a:r>
            <a:br>
              <a:rPr lang="en-US" sz="2665"/>
            </a:br>
            <a:r>
              <a:rPr lang="en-US" sz="2665"/>
              <a:t>- Tốc độ xử lý trung bình là: O(logN).</a:t>
            </a:r>
            <a:endParaRPr lang="en-US" sz="266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8555" y="133985"/>
            <a:ext cx="10515600" cy="1325563"/>
          </a:xfrm>
        </p:spPr>
        <p:txBody>
          <a:bodyPr/>
          <a:p>
            <a:r>
              <a:rPr lang="en-US"/>
              <a:t>Cấu trúc bảng băm</a:t>
            </a:r>
            <a:endParaRPr lang="en-US"/>
          </a:p>
        </p:txBody>
      </p:sp>
      <p:pic>
        <p:nvPicPr>
          <p:cNvPr id="4" name="Content Placeholder 3" descr="DB-Trang-7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03170" y="1783080"/>
            <a:ext cx="6391275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5125" y="295910"/>
            <a:ext cx="10515600" cy="1325563"/>
          </a:xfrm>
        </p:spPr>
        <p:txBody>
          <a:bodyPr/>
          <a:p>
            <a:r>
              <a:rPr lang="en-US"/>
              <a:t>Cấu trúc cây BST:</a:t>
            </a:r>
            <a:endParaRPr lang="en-US"/>
          </a:p>
        </p:txBody>
      </p:sp>
      <p:pic>
        <p:nvPicPr>
          <p:cNvPr id="4" name="Content Placeholder 3" descr="DB-Trang-6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96895" y="1702435"/>
            <a:ext cx="4962525" cy="4413250"/>
          </a:xfrm>
          <a:prstGeom prst="rect">
            <a:avLst/>
          </a:prstGeom>
        </p:spPr>
      </p:pic>
      <p:sp>
        <p:nvSpPr>
          <p:cNvPr id="9" name="Subtitle 2"/>
          <p:cNvSpPr>
            <a:spLocks noGrp="1"/>
          </p:cNvSpPr>
          <p:nvPr/>
        </p:nvSpPr>
        <p:spPr>
          <a:xfrm>
            <a:off x="177800" y="2112645"/>
            <a:ext cx="7679690" cy="2488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/>
            <a:endParaRPr lang="en-US" altLang="en-US" sz="369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Content Placeholder 5"/>
          <p:cNvGraphicFramePr/>
          <p:nvPr>
            <p:ph idx="1"/>
            <p:custDataLst>
              <p:tags r:id="rId1"/>
            </p:custDataLst>
          </p:nvPr>
        </p:nvGraphicFramePr>
        <p:xfrm>
          <a:off x="0" y="29210"/>
          <a:ext cx="12169140" cy="652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240"/>
                <a:gridCol w="2161540"/>
                <a:gridCol w="4121150"/>
                <a:gridCol w="3712210"/>
              </a:tblGrid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Chức N</a:t>
                      </a:r>
                      <a:r>
                        <a:rPr lang="en-US" altLang="en-US"/>
                        <a:t>ă</a:t>
                      </a:r>
                      <a:r>
                        <a:rPr lang="en-US" altLang="en-US"/>
                        <a:t>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Tên Hàm	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Tạp Thời Gian (Time Complexity)	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Đ</a:t>
                      </a:r>
                      <a:r>
                        <a:rPr lang="en-US" altLang="en-US"/>
                        <a:t>ộ Phức Tạp Không Gian (Space Complexity</a:t>
                      </a:r>
                      <a:endParaRPr 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Thêm SV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insertSV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Tốt/Trung bình: O(log N)</a:t>
                      </a:r>
                      <a:endParaRPr lang="en-US" altLang="en-US" sz="1600"/>
                    </a:p>
                    <a:p>
                      <a:pPr>
                        <a:buNone/>
                      </a:pPr>
                      <a:r>
                        <a:rPr lang="en-US" altLang="en-US" sz="1600"/>
                        <a:t>Tệ nhất: O(N)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O(1)(không gian phụ)</a:t>
                      </a:r>
                      <a:endParaRPr lang="en-US" altLang="en-US" sz="160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Tìm SV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searchSV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Tốt/Trung bình: O(log N)  </a:t>
                      </a:r>
                      <a:endParaRPr lang="en-US" altLang="en-US" sz="1600"/>
                    </a:p>
                    <a:p>
                      <a:pPr>
                        <a:buNone/>
                      </a:pPr>
                      <a:r>
                        <a:rPr lang="en-US" altLang="en-US" sz="1600"/>
                        <a:t>Tệ nhất: O(N)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$O(1)(không gian phụ)</a:t>
                      </a:r>
                      <a:endParaRPr lang="en-US" altLang="en-US" sz="160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Xóa SV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deleteSV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Tốt/Trung bình: O(log N)  </a:t>
                      </a:r>
                      <a:endParaRPr lang="en-US" altLang="en-US" sz="1600"/>
                    </a:p>
                    <a:p>
                      <a:pPr>
                        <a:buNone/>
                      </a:pPr>
                      <a:r>
                        <a:rPr lang="en-US" altLang="en-US" sz="1600"/>
                        <a:t>Tệ nhất: O(N)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Tốt/Trung bình: $O(log N)  Tệ nhất: O(N) (đ</a:t>
                      </a:r>
                      <a:r>
                        <a:rPr lang="en-US" altLang="en-US" sz="1600"/>
                        <a:t>ệ quy)</a:t>
                      </a:r>
                      <a:endParaRPr lang="en-US" altLang="en-US" sz="160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In DS SV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printSV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O(N)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O(N) (đ</a:t>
                      </a:r>
                      <a:r>
                        <a:rPr lang="en-US" altLang="en-US" sz="1600"/>
                        <a:t>ệ quy)</a:t>
                      </a:r>
                      <a:endParaRPr lang="en-US" altLang="en-US" sz="160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In Bảng Xếp Hạng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printScoreRanking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Trung bình: O(N log N)</a:t>
                      </a:r>
                      <a:endParaRPr lang="en-US" altLang="en-US" sz="1600"/>
                    </a:p>
                    <a:p>
                      <a:pPr>
                        <a:buNone/>
                      </a:pPr>
                      <a:r>
                        <a:rPr lang="en-US" altLang="en-US" sz="1600"/>
                        <a:t>Tệ nhất: O(N^2)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O(N)</a:t>
                      </a:r>
                      <a:endParaRPr lang="en-US" altLang="en-US" sz="1600"/>
                    </a:p>
                    <a:p>
                      <a:pPr>
                        <a:buNone/>
                      </a:pPr>
                      <a:endParaRPr lang="en-US" altLang="en-US" sz="160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Tạo Bảng Thống Kê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printStatistics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O(N)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O(N)</a:t>
                      </a:r>
                      <a:endParaRPr lang="en-US" altLang="en-US" sz="1600"/>
                    </a:p>
                    <a:p>
                      <a:pPr>
                        <a:buNone/>
                      </a:pPr>
                      <a:endParaRPr lang="en-US" altLang="en-US" sz="160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Hàm B</a:t>
                      </a:r>
                      <a:r>
                        <a:rPr lang="" altLang="en-US" sz="1600"/>
                        <a:t>ă</a:t>
                      </a:r>
                      <a:r>
                        <a:rPr lang="en-US" altLang="en-US" sz="1600"/>
                        <a:t>m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hashFunction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O(L)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O(1)</a:t>
                      </a:r>
                      <a:endParaRPr lang="en-US" altLang="en-US" sz="160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Tìm Lớp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findClass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Trung bình: O(1)  </a:t>
                      </a:r>
                      <a:endParaRPr lang="en-US" altLang="en-US" sz="1600"/>
                    </a:p>
                    <a:p>
                      <a:pPr>
                        <a:buNone/>
                      </a:pPr>
                      <a:r>
                        <a:rPr lang="en-US" altLang="en-US" sz="1600"/>
                        <a:t>Tệ nhất: O(M)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O(1)</a:t>
                      </a:r>
                      <a:endParaRPr lang="en-US" altLang="en-US" sz="1600"/>
                    </a:p>
                    <a:p>
                      <a:pPr>
                        <a:buNone/>
                      </a:pPr>
                      <a:endParaRPr lang="en-US" altLang="en-US" sz="160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Thêm Lớp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insertClass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Trung bình: O(1)</a:t>
                      </a:r>
                      <a:endParaRPr lang="en-US" altLang="en-US" sz="1600"/>
                    </a:p>
                    <a:p>
                      <a:pPr>
                        <a:buNone/>
                      </a:pPr>
                      <a:r>
                        <a:rPr lang="en-US" altLang="en-US" sz="1600"/>
                        <a:t>Tệ nhất: O(M)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O(1)</a:t>
                      </a:r>
                      <a:endParaRPr lang="en-US" altLang="en-US" sz="1600"/>
                    </a:p>
                    <a:p>
                      <a:pPr>
                        <a:buNone/>
                      </a:pPr>
                      <a:endParaRPr lang="en-US" altLang="en-US" sz="160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Xóa Lớp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deleteClass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Trung bình: O(1)</a:t>
                      </a:r>
                      <a:endParaRPr lang="en-US" altLang="en-US" sz="1600"/>
                    </a:p>
                    <a:p>
                      <a:pPr>
                        <a:buNone/>
                      </a:pPr>
                      <a:r>
                        <a:rPr lang="en-US" altLang="en-US" sz="1600"/>
                        <a:t>Tệ nhất: O(M)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O(1)</a:t>
                      </a:r>
                      <a:endParaRPr lang="en-US" altLang="en-US" sz="1600"/>
                    </a:p>
                    <a:p>
                      <a:pPr>
                        <a:buNone/>
                      </a:pPr>
                      <a:endParaRPr lang="en-US" altLang="en-US" sz="1600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In Tất Cả Lớp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printAllClasses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O(M)</a:t>
                      </a:r>
                      <a:endParaRPr lang="en-US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600"/>
                        <a:t>O(1)</a:t>
                      </a:r>
                      <a:endParaRPr lang="en-US" altLang="en-US" sz="1600"/>
                    </a:p>
                    <a:p>
                      <a:pPr>
                        <a:buNone/>
                      </a:pPr>
                      <a:endParaRPr lang="en-US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063*511"/>
  <p:tag name="TABLE_ENDDRAG_RECT" val="0*2*1063*51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1424</Words>
  <Application>WPS Presentation</Application>
  <PresentationFormat>Widescreen</PresentationFormat>
  <Paragraphs>127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Google Sans Text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Lộc Nguyễn Tấn</cp:lastModifiedBy>
  <cp:revision>3</cp:revision>
  <dcterms:created xsi:type="dcterms:W3CDTF">2025-07-23T00:59:00Z</dcterms:created>
  <dcterms:modified xsi:type="dcterms:W3CDTF">2025-12-01T11:09:43Z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42EC531D84B14F7E9AB81BFC2299F2EC_11</vt:lpwstr>
  </property>
  <property fmtid="{D5CDD505-2E9C-101B-9397-08002B2CF9AE}" pid="3" name="KSOProductBuildVer">
    <vt:lpwstr>1033-12.2.0.23155</vt:lpwstr>
  </property>
</Properties>
</file>